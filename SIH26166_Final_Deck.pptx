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100000">
            <a:off x="-914400" y="-914400"/>
            <a:ext cx="4206240" cy="1828800"/>
          </a:xfrm>
          <a:prstGeom prst="rect">
            <a:avLst/>
          </a:prstGeom>
          <a:solidFill>
            <a:srgbClr val="4F6068"/>
          </a:solidFill>
          <a:ln/>
        </p:spPr>
      </p:sp>
      <p:sp>
        <p:nvSpPr>
          <p:cNvPr id="3" name="Shape 1"/>
          <p:cNvSpPr/>
          <p:nvPr/>
        </p:nvSpPr>
        <p:spPr>
          <a:xfrm>
            <a:off x="-1005840" y="3931920"/>
            <a:ext cx="3017520" cy="3017520"/>
          </a:xfrm>
          <a:prstGeom prst="triangle">
            <a:avLst/>
          </a:prstGeom>
          <a:solidFill>
            <a:srgbClr val="EB861A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5212080"/>
            <a:ext cx="2286000" cy="2286000"/>
          </a:xfrm>
          <a:prstGeom prst="triangle">
            <a:avLst/>
          </a:prstGeom>
          <a:solidFill>
            <a:srgbClr val="19893F"/>
          </a:solidFill>
          <a:ln/>
        </p:spPr>
      </p:sp>
      <p:pic>
        <p:nvPicPr>
          <p:cNvPr id="5" name="Image 0" descr="/home/claude/work/assets/sih_bulb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594360" cy="6817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4572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2025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114800" y="502920"/>
            <a:ext cx="76809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Multi-Instrument Lunar Image</a:t>
            </a:r>
            <a:endParaRPr lang="en-US" sz="3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 Against External</a:t>
            </a:r>
            <a:endParaRPr lang="en-US" sz="3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Imagery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4142232" y="2240280"/>
            <a:ext cx="3383280" cy="0"/>
          </a:xfrm>
          <a:prstGeom prst="line">
            <a:avLst/>
          </a:prstGeom>
          <a:noFill/>
          <a:ln w="31750">
            <a:solidFill>
              <a:srgbClr val="19893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0" y="2606040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ID: 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SIH26166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114800" y="3063240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Title: 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Multi-Instrument Lunar Image Registration Against External Reference Imagery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114800" y="3520440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Theme: 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Technology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114800" y="3977640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Category: 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114800" y="4434840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ID: 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&lt;Your Team ID&gt;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114800" y="4892040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(Registered on portal): 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&lt;Your Team Name&gt;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114800" y="6263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Technology  ·  Software  ·  Smart India Hackathon 2025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1612880" y="653796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100000">
            <a:off x="10332720" y="-640080"/>
            <a:ext cx="2926080" cy="914400"/>
          </a:xfrm>
          <a:prstGeom prst="rect">
            <a:avLst/>
          </a:prstGeom>
          <a:solidFill>
            <a:srgbClr val="4F6068"/>
          </a:solidFill>
          <a:ln/>
        </p:spPr>
      </p:sp>
      <p:sp>
        <p:nvSpPr>
          <p:cNvPr id="3" name="Shape 1"/>
          <p:cNvSpPr/>
          <p:nvPr/>
        </p:nvSpPr>
        <p:spPr>
          <a:xfrm rot="10800000">
            <a:off x="11292840" y="-45720"/>
            <a:ext cx="1234440" cy="1234440"/>
          </a:xfrm>
          <a:prstGeom prst="triangle">
            <a:avLst/>
          </a:prstGeom>
          <a:solidFill>
            <a:srgbClr val="EB861A"/>
          </a:solidFill>
          <a:ln/>
        </p:spPr>
      </p:sp>
      <p:pic>
        <p:nvPicPr>
          <p:cNvPr id="4" name="Image 0" descr="/home/claude/work/assets/sih_bulb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502920" cy="57687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65176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98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TITLE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2651760" y="658368"/>
            <a:ext cx="9052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Shadow-Invariant Learned Descriptor + Classical SIFT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2651760" y="1444752"/>
            <a:ext cx="4297680" cy="0"/>
          </a:xfrm>
          <a:prstGeom prst="line">
            <a:avLst/>
          </a:prstGeom>
          <a:noFill/>
          <a:ln w="31750">
            <a:solidFill>
              <a:srgbClr val="19893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600200"/>
            <a:ext cx="11109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— a generic, evaluable registration pipeline for Chandrayaan-2 OHRC/TMC-2/IIRS imagery, matched against LROC NAC/SELENE reference imagery, combining classical SIFT with a novel shadow-invariant learned patch descriptor.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15798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98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450592"/>
            <a:ext cx="1847088" cy="1234440"/>
          </a:xfrm>
          <a:prstGeom prst="roundRect">
            <a:avLst>
              <a:gd name="adj" fmla="val 5926"/>
            </a:avLst>
          </a:prstGeom>
          <a:solidFill>
            <a:srgbClr val="F2F5F3"/>
          </a:solidFill>
          <a:ln w="12700">
            <a:solidFill>
              <a:srgbClr val="D5DE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2450592"/>
            <a:ext cx="184708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Patch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395728" y="2450592"/>
            <a:ext cx="3840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B8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2779776" y="2450592"/>
            <a:ext cx="1847088" cy="1234440"/>
          </a:xfrm>
          <a:prstGeom prst="roundRect">
            <a:avLst>
              <a:gd name="adj" fmla="val 5926"/>
            </a:avLst>
          </a:prstGeom>
          <a:solidFill>
            <a:srgbClr val="19893F"/>
          </a:solidFill>
          <a:ln w="12700">
            <a:solidFill>
              <a:srgbClr val="19893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79776" y="2450592"/>
            <a:ext cx="184708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626864" y="2450592"/>
            <a:ext cx="3840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B8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010912" y="2450592"/>
            <a:ext cx="1847088" cy="1234440"/>
          </a:xfrm>
          <a:prstGeom prst="roundRect">
            <a:avLst>
              <a:gd name="adj" fmla="val 5926"/>
            </a:avLst>
          </a:prstGeom>
          <a:solidFill>
            <a:srgbClr val="F2F5F3"/>
          </a:solidFill>
          <a:ln w="12700">
            <a:solidFill>
              <a:srgbClr val="D5DE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10912" y="2450592"/>
            <a:ext cx="184708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858000" y="2450592"/>
            <a:ext cx="3840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B8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7242048" y="2450592"/>
            <a:ext cx="1847088" cy="1234440"/>
          </a:xfrm>
          <a:prstGeom prst="roundRect">
            <a:avLst>
              <a:gd name="adj" fmla="val 5926"/>
            </a:avLst>
          </a:prstGeom>
          <a:solidFill>
            <a:srgbClr val="F2F5F3"/>
          </a:solidFill>
          <a:ln w="12700">
            <a:solidFill>
              <a:srgbClr val="D5DED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242048" y="2450592"/>
            <a:ext cx="184708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089136" y="2450592"/>
            <a:ext cx="3840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B8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9473184" y="2450592"/>
            <a:ext cx="1847088" cy="1234440"/>
          </a:xfrm>
          <a:prstGeom prst="roundRect">
            <a:avLst>
              <a:gd name="adj" fmla="val 5926"/>
            </a:avLst>
          </a:prstGeom>
          <a:solidFill>
            <a:srgbClr val="F2F5F3"/>
          </a:solidFill>
          <a:ln w="12700">
            <a:solidFill>
              <a:srgbClr val="D5DED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473184" y="2450592"/>
            <a:ext cx="184708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RANSAC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48640" y="4069080"/>
            <a:ext cx="5349240" cy="1828800"/>
          </a:xfrm>
          <a:prstGeom prst="roundRect">
            <a:avLst>
              <a:gd name="adj" fmla="val 3500"/>
            </a:avLst>
          </a:prstGeom>
          <a:solidFill>
            <a:srgbClr val="F2F5F3"/>
          </a:solidFill>
          <a:ln w="12700">
            <a:solidFill>
              <a:srgbClr val="D5DED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77240" y="421538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CONCEPT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77240" y="452628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matching (SIFT/ASIFT) is documented (ISRO SAC, 2025) to fail under lunar shadow and intensity shift. Triplet-trained Siamese descriptor using physically-rendered (Lommel-Seeliger) synthetic sun-angle pairs from real DEM data — closed-form geometry everywhere except this one learned component.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263640" y="4069080"/>
            <a:ext cx="5349240" cy="1828800"/>
          </a:xfrm>
          <a:prstGeom prst="roundRect">
            <a:avLst>
              <a:gd name="adj" fmla="val 3500"/>
            </a:avLst>
          </a:prstGeom>
          <a:solidFill>
            <a:srgbClr val="19893F"/>
          </a:solidFill>
          <a:ln/>
        </p:spPr>
      </p:sp>
      <p:sp>
        <p:nvSpPr>
          <p:cNvPr id="28" name="Text 25"/>
          <p:cNvSpPr/>
          <p:nvPr/>
        </p:nvSpPr>
        <p:spPr>
          <a:xfrm>
            <a:off x="6492240" y="4215384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B8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— WHAT WE TARGET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492240" y="452628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descriptor adds shadow-robust candidates alongside SIFT, feeding the same RANSAC verification — not replacing it. We do not claim to solve multi-modal registration in general; we target one named failure mode and validate the fix precisely there.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02920" y="6473952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SIH26166  |  Multi-Instrument Lunar Image Registration Against External Reference Imagery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9052560" y="647395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&lt;Your Team Name&gt;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521440" y="6473952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100000">
            <a:off x="10332720" y="-640080"/>
            <a:ext cx="2926080" cy="914400"/>
          </a:xfrm>
          <a:prstGeom prst="rect">
            <a:avLst/>
          </a:prstGeom>
          <a:solidFill>
            <a:srgbClr val="4F6068"/>
          </a:solidFill>
          <a:ln/>
        </p:spPr>
      </p:sp>
      <p:sp>
        <p:nvSpPr>
          <p:cNvPr id="3" name="Shape 1"/>
          <p:cNvSpPr/>
          <p:nvPr/>
        </p:nvSpPr>
        <p:spPr>
          <a:xfrm rot="10800000">
            <a:off x="11292840" y="-45720"/>
            <a:ext cx="1234440" cy="1234440"/>
          </a:xfrm>
          <a:prstGeom prst="triangle">
            <a:avLst/>
          </a:prstGeom>
          <a:solidFill>
            <a:srgbClr val="EB861A"/>
          </a:solidFill>
          <a:ln/>
        </p:spPr>
      </p:sp>
      <p:pic>
        <p:nvPicPr>
          <p:cNvPr id="4" name="Image 0" descr="/home/claude/work/assets/sih_bulb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502920" cy="57687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65176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98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2651760" y="658368"/>
            <a:ext cx="9052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Closed-form geometry, one learned component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2651760" y="1444752"/>
            <a:ext cx="3840480" cy="0"/>
          </a:xfrm>
          <a:prstGeom prst="line">
            <a:avLst/>
          </a:prstGeom>
          <a:noFill/>
          <a:ln w="31750">
            <a:solidFill>
              <a:srgbClr val="19893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2618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98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1554480"/>
            <a:ext cx="1477409" cy="960120"/>
          </a:xfrm>
          <a:prstGeom prst="roundRect">
            <a:avLst>
              <a:gd name="adj" fmla="val 6667"/>
            </a:avLst>
          </a:prstGeom>
          <a:solidFill>
            <a:srgbClr val="19893F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554480"/>
            <a:ext cx="1477409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154065" y="1554480"/>
            <a:ext cx="1477409" cy="960120"/>
          </a:xfrm>
          <a:prstGeom prst="roundRect">
            <a:avLst>
              <a:gd name="adj" fmla="val 6667"/>
            </a:avLst>
          </a:prstGeom>
          <a:solidFill>
            <a:srgbClr val="19893F"/>
          </a:solidFill>
          <a:ln/>
        </p:spPr>
      </p:sp>
      <p:sp>
        <p:nvSpPr>
          <p:cNvPr id="12" name="Text 9"/>
          <p:cNvSpPr/>
          <p:nvPr/>
        </p:nvSpPr>
        <p:spPr>
          <a:xfrm>
            <a:off x="2154065" y="1554480"/>
            <a:ext cx="1477409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759490" y="1554480"/>
            <a:ext cx="1477409" cy="960120"/>
          </a:xfrm>
          <a:prstGeom prst="roundRect">
            <a:avLst>
              <a:gd name="adj" fmla="val 6667"/>
            </a:avLst>
          </a:prstGeom>
          <a:solidFill>
            <a:srgbClr val="19893F"/>
          </a:solidFill>
          <a:ln/>
        </p:spPr>
      </p:sp>
      <p:sp>
        <p:nvSpPr>
          <p:cNvPr id="14" name="Text 11"/>
          <p:cNvSpPr/>
          <p:nvPr/>
        </p:nvSpPr>
        <p:spPr>
          <a:xfrm>
            <a:off x="3759490" y="1554480"/>
            <a:ext cx="1477409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Photometric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364915" y="1554480"/>
            <a:ext cx="1477409" cy="960120"/>
          </a:xfrm>
          <a:prstGeom prst="roundRect">
            <a:avLst>
              <a:gd name="adj" fmla="val 6667"/>
            </a:avLst>
          </a:prstGeom>
          <a:solidFill>
            <a:srgbClr val="EB861A"/>
          </a:solidFill>
          <a:ln/>
        </p:spPr>
      </p:sp>
      <p:sp>
        <p:nvSpPr>
          <p:cNvPr id="16" name="Text 13"/>
          <p:cNvSpPr/>
          <p:nvPr/>
        </p:nvSpPr>
        <p:spPr>
          <a:xfrm>
            <a:off x="5364915" y="1554480"/>
            <a:ext cx="1477409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SIFT +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Desc.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970341" y="1554480"/>
            <a:ext cx="1477409" cy="960120"/>
          </a:xfrm>
          <a:prstGeom prst="roundRect">
            <a:avLst>
              <a:gd name="adj" fmla="val 6667"/>
            </a:avLst>
          </a:prstGeom>
          <a:solidFill>
            <a:srgbClr val="19893F"/>
          </a:solidFill>
          <a:ln/>
        </p:spPr>
      </p:sp>
      <p:sp>
        <p:nvSpPr>
          <p:cNvPr id="18" name="Text 15"/>
          <p:cNvSpPr/>
          <p:nvPr/>
        </p:nvSpPr>
        <p:spPr>
          <a:xfrm>
            <a:off x="6970341" y="1554480"/>
            <a:ext cx="1477409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RANSAC 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Homography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575766" y="1554480"/>
            <a:ext cx="1477409" cy="960120"/>
          </a:xfrm>
          <a:prstGeom prst="roundRect">
            <a:avLst>
              <a:gd name="adj" fmla="val 6667"/>
            </a:avLst>
          </a:prstGeom>
          <a:solidFill>
            <a:srgbClr val="19893F"/>
          </a:solidFill>
          <a:ln/>
        </p:spPr>
      </p:sp>
      <p:sp>
        <p:nvSpPr>
          <p:cNvPr id="20" name="Text 17"/>
          <p:cNvSpPr/>
          <p:nvPr/>
        </p:nvSpPr>
        <p:spPr>
          <a:xfrm>
            <a:off x="8575766" y="1554480"/>
            <a:ext cx="1477409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0181191" y="1554480"/>
            <a:ext cx="1477409" cy="960120"/>
          </a:xfrm>
          <a:prstGeom prst="roundRect">
            <a:avLst>
              <a:gd name="adj" fmla="val 6667"/>
            </a:avLst>
          </a:prstGeom>
          <a:solidFill>
            <a:srgbClr val="19893F"/>
          </a:solidFill>
          <a:ln/>
        </p:spPr>
      </p:sp>
      <p:sp>
        <p:nvSpPr>
          <p:cNvPr id="22" name="Text 19"/>
          <p:cNvSpPr/>
          <p:nvPr/>
        </p:nvSpPr>
        <p:spPr>
          <a:xfrm>
            <a:off x="10181191" y="1554480"/>
            <a:ext cx="1477409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R3F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48640" y="2788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98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48640" y="3154680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 </a:t>
            </a:r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+ React Three Fiber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548640" y="3483864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Backend:  </a:t>
            </a:r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ONNX Runtime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548640" y="3813048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 </a:t>
            </a:r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548640" y="4142232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Auth:  </a:t>
            </a:r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(DB / Auth / Storage)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4069080" y="3154680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&amp; Limits:  </a:t>
            </a:r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Upstash Redis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4069080" y="3483864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Observability:  </a:t>
            </a:r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4069080" y="3813048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Narration:  </a:t>
            </a:r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(result narration)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7086600" y="2834640"/>
            <a:ext cx="4526280" cy="3200400"/>
          </a:xfrm>
          <a:prstGeom prst="roundRect">
            <a:avLst>
              <a:gd name="adj" fmla="val 2286"/>
            </a:avLst>
          </a:prstGeom>
          <a:solidFill>
            <a:srgbClr val="19893F"/>
          </a:solidFill>
          <a:ln/>
        </p:spPr>
      </p:sp>
      <p:sp>
        <p:nvSpPr>
          <p:cNvPr id="32" name="Text 29"/>
          <p:cNvSpPr/>
          <p:nvPr/>
        </p:nvSpPr>
        <p:spPr>
          <a:xfrm>
            <a:off x="7315200" y="30175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B8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EQUATION THAT MATTERS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7315200" y="33375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Triplet Loss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7178040" y="37033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= max(d(a,p) − d(a,n) + α, 0)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7315200" y="420624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anchor patch, p = same-surface positive under a different sun angle, n = non-matching negative, α = margin.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7315200" y="489204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buys us: it pulls the embeddings of the same terrain patch together across sun angles, and pushes different terrain apart — so shadow no longer masquerades as a different feature.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02920" y="6473952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SIH26166  |  Multi-Instrument Lunar Image Registration Against External Reference Imagery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9052560" y="647395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&lt;Your Team Name&gt;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1521440" y="6473952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100000">
            <a:off x="10332720" y="-640080"/>
            <a:ext cx="2926080" cy="914400"/>
          </a:xfrm>
          <a:prstGeom prst="rect">
            <a:avLst/>
          </a:prstGeom>
          <a:solidFill>
            <a:srgbClr val="4F6068"/>
          </a:solidFill>
          <a:ln/>
        </p:spPr>
      </p:sp>
      <p:sp>
        <p:nvSpPr>
          <p:cNvPr id="3" name="Shape 1"/>
          <p:cNvSpPr/>
          <p:nvPr/>
        </p:nvSpPr>
        <p:spPr>
          <a:xfrm rot="10800000">
            <a:off x="11292840" y="-45720"/>
            <a:ext cx="1234440" cy="1234440"/>
          </a:xfrm>
          <a:prstGeom prst="triangle">
            <a:avLst/>
          </a:prstGeom>
          <a:solidFill>
            <a:srgbClr val="EB861A"/>
          </a:solidFill>
          <a:ln/>
        </p:spPr>
      </p:sp>
      <p:pic>
        <p:nvPicPr>
          <p:cNvPr id="4" name="Image 0" descr="/home/claude/work/assets/sih_bulb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502920" cy="57687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65176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98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+ MEASURED RESULTS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2651760" y="658368"/>
            <a:ext cx="9052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vs. proposed, on the same scene pair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2651760" y="1444752"/>
            <a:ext cx="4023360" cy="0"/>
          </a:xfrm>
          <a:prstGeom prst="line">
            <a:avLst/>
          </a:prstGeom>
          <a:noFill/>
          <a:ln w="31750">
            <a:solidFill>
              <a:srgbClr val="19893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600200"/>
            <a:ext cx="5349240" cy="2148840"/>
          </a:xfrm>
          <a:prstGeom prst="roundRect">
            <a:avLst>
              <a:gd name="adj" fmla="val 2979"/>
            </a:avLst>
          </a:prstGeom>
          <a:solidFill>
            <a:srgbClr val="F2F5F3"/>
          </a:solidFill>
          <a:ln w="12700">
            <a:solidFill>
              <a:srgbClr val="D5DE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17282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BASELINE (SIFT)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036654" y="2105830"/>
            <a:ext cx="54864" cy="5486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Shape 8"/>
          <p:cNvSpPr/>
          <p:nvPr/>
        </p:nvSpPr>
        <p:spPr>
          <a:xfrm>
            <a:off x="1119833" y="2638688"/>
            <a:ext cx="54864" cy="5486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9"/>
          <p:cNvSpPr/>
          <p:nvPr/>
        </p:nvSpPr>
        <p:spPr>
          <a:xfrm>
            <a:off x="5220755" y="2985934"/>
            <a:ext cx="54864" cy="5486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3" name="Shape 10"/>
          <p:cNvSpPr/>
          <p:nvPr/>
        </p:nvSpPr>
        <p:spPr>
          <a:xfrm>
            <a:off x="3580639" y="2723211"/>
            <a:ext cx="54864" cy="5486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Shape 11"/>
          <p:cNvSpPr/>
          <p:nvPr/>
        </p:nvSpPr>
        <p:spPr>
          <a:xfrm>
            <a:off x="1916902" y="2466475"/>
            <a:ext cx="54864" cy="5486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Shape 12"/>
          <p:cNvSpPr/>
          <p:nvPr/>
        </p:nvSpPr>
        <p:spPr>
          <a:xfrm>
            <a:off x="3470713" y="2413395"/>
            <a:ext cx="54864" cy="5486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Shape 13"/>
          <p:cNvSpPr/>
          <p:nvPr/>
        </p:nvSpPr>
        <p:spPr>
          <a:xfrm>
            <a:off x="4511906" y="3294948"/>
            <a:ext cx="54864" cy="5486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7" name="Shape 14"/>
          <p:cNvSpPr/>
          <p:nvPr/>
        </p:nvSpPr>
        <p:spPr>
          <a:xfrm>
            <a:off x="1814753" y="2624967"/>
            <a:ext cx="54864" cy="5486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8" name="Shape 15"/>
          <p:cNvSpPr/>
          <p:nvPr/>
        </p:nvSpPr>
        <p:spPr>
          <a:xfrm>
            <a:off x="5286801" y="3155018"/>
            <a:ext cx="54864" cy="5486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9" name="Shape 16"/>
          <p:cNvSpPr/>
          <p:nvPr/>
        </p:nvSpPr>
        <p:spPr>
          <a:xfrm>
            <a:off x="2719864" y="2641509"/>
            <a:ext cx="54864" cy="5486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0" name="Shape 17"/>
          <p:cNvSpPr/>
          <p:nvPr/>
        </p:nvSpPr>
        <p:spPr>
          <a:xfrm>
            <a:off x="2999953" y="3106624"/>
            <a:ext cx="54864" cy="5486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Shape 18"/>
          <p:cNvSpPr/>
          <p:nvPr/>
        </p:nvSpPr>
        <p:spPr>
          <a:xfrm>
            <a:off x="3349474" y="3263718"/>
            <a:ext cx="54864" cy="5486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2" name="Shape 19"/>
          <p:cNvSpPr/>
          <p:nvPr/>
        </p:nvSpPr>
        <p:spPr>
          <a:xfrm>
            <a:off x="2456783" y="2811833"/>
            <a:ext cx="54864" cy="5486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3" name="Shape 20"/>
          <p:cNvSpPr/>
          <p:nvPr/>
        </p:nvSpPr>
        <p:spPr>
          <a:xfrm>
            <a:off x="5021226" y="2433188"/>
            <a:ext cx="54864" cy="5486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4" name="Text 21"/>
          <p:cNvSpPr/>
          <p:nvPr/>
        </p:nvSpPr>
        <p:spPr>
          <a:xfrm>
            <a:off x="777240" y="338328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scatter and drop out under shadow / intensity shift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263640" y="1600200"/>
            <a:ext cx="5349240" cy="2148840"/>
          </a:xfrm>
          <a:prstGeom prst="roundRect">
            <a:avLst>
              <a:gd name="adj" fmla="val 2979"/>
            </a:avLst>
          </a:prstGeom>
          <a:solidFill>
            <a:srgbClr val="19893F"/>
          </a:solidFill>
          <a:ln/>
        </p:spPr>
      </p:sp>
      <p:sp>
        <p:nvSpPr>
          <p:cNvPr id="26" name="Text 23"/>
          <p:cNvSpPr/>
          <p:nvPr/>
        </p:nvSpPr>
        <p:spPr>
          <a:xfrm>
            <a:off x="6492240" y="1728216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B8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(SIFT + LEARNED DESCRIPTOR)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629400" y="2194560"/>
            <a:ext cx="64008" cy="64008"/>
          </a:xfrm>
          <a:prstGeom prst="ellipse">
            <a:avLst/>
          </a:prstGeom>
          <a:solidFill>
            <a:srgbClr val="8FE3C0"/>
          </a:solidFill>
          <a:ln/>
        </p:spPr>
      </p:sp>
      <p:sp>
        <p:nvSpPr>
          <p:cNvPr id="28" name="Shape 25"/>
          <p:cNvSpPr/>
          <p:nvPr/>
        </p:nvSpPr>
        <p:spPr>
          <a:xfrm>
            <a:off x="7196328" y="2194560"/>
            <a:ext cx="64008" cy="64008"/>
          </a:xfrm>
          <a:prstGeom prst="ellipse">
            <a:avLst/>
          </a:prstGeom>
          <a:solidFill>
            <a:srgbClr val="8FE3C0"/>
          </a:solidFill>
          <a:ln/>
        </p:spPr>
      </p:sp>
      <p:sp>
        <p:nvSpPr>
          <p:cNvPr id="29" name="Shape 26"/>
          <p:cNvSpPr/>
          <p:nvPr/>
        </p:nvSpPr>
        <p:spPr>
          <a:xfrm>
            <a:off x="7763256" y="2194560"/>
            <a:ext cx="64008" cy="64008"/>
          </a:xfrm>
          <a:prstGeom prst="ellipse">
            <a:avLst/>
          </a:prstGeom>
          <a:solidFill>
            <a:srgbClr val="8FE3C0"/>
          </a:solidFill>
          <a:ln/>
        </p:spPr>
      </p:sp>
      <p:sp>
        <p:nvSpPr>
          <p:cNvPr id="30" name="Shape 27"/>
          <p:cNvSpPr/>
          <p:nvPr/>
        </p:nvSpPr>
        <p:spPr>
          <a:xfrm>
            <a:off x="8330184" y="2194560"/>
            <a:ext cx="64008" cy="64008"/>
          </a:xfrm>
          <a:prstGeom prst="ellipse">
            <a:avLst/>
          </a:prstGeom>
          <a:solidFill>
            <a:srgbClr val="8FE3C0"/>
          </a:solidFill>
          <a:ln/>
        </p:spPr>
      </p:sp>
      <p:sp>
        <p:nvSpPr>
          <p:cNvPr id="31" name="Shape 28"/>
          <p:cNvSpPr/>
          <p:nvPr/>
        </p:nvSpPr>
        <p:spPr>
          <a:xfrm>
            <a:off x="8897112" y="2194560"/>
            <a:ext cx="64008" cy="64008"/>
          </a:xfrm>
          <a:prstGeom prst="ellipse">
            <a:avLst/>
          </a:prstGeom>
          <a:solidFill>
            <a:srgbClr val="8FE3C0"/>
          </a:solidFill>
          <a:ln/>
        </p:spPr>
      </p:sp>
      <p:sp>
        <p:nvSpPr>
          <p:cNvPr id="32" name="Shape 29"/>
          <p:cNvSpPr/>
          <p:nvPr/>
        </p:nvSpPr>
        <p:spPr>
          <a:xfrm>
            <a:off x="9464040" y="2194560"/>
            <a:ext cx="64008" cy="64008"/>
          </a:xfrm>
          <a:prstGeom prst="ellipse">
            <a:avLst/>
          </a:prstGeom>
          <a:solidFill>
            <a:srgbClr val="8FE3C0"/>
          </a:solidFill>
          <a:ln/>
        </p:spPr>
      </p:sp>
      <p:sp>
        <p:nvSpPr>
          <p:cNvPr id="33" name="Shape 30"/>
          <p:cNvSpPr/>
          <p:nvPr/>
        </p:nvSpPr>
        <p:spPr>
          <a:xfrm>
            <a:off x="10030968" y="2194560"/>
            <a:ext cx="64008" cy="64008"/>
          </a:xfrm>
          <a:prstGeom prst="ellipse">
            <a:avLst/>
          </a:prstGeom>
          <a:solidFill>
            <a:srgbClr val="8FE3C0"/>
          </a:solidFill>
          <a:ln/>
        </p:spPr>
      </p:sp>
      <p:sp>
        <p:nvSpPr>
          <p:cNvPr id="34" name="Shape 31"/>
          <p:cNvSpPr/>
          <p:nvPr/>
        </p:nvSpPr>
        <p:spPr>
          <a:xfrm>
            <a:off x="10597896" y="2194560"/>
            <a:ext cx="64008" cy="64008"/>
          </a:xfrm>
          <a:prstGeom prst="ellipse">
            <a:avLst/>
          </a:prstGeom>
          <a:solidFill>
            <a:srgbClr val="8FE3C0"/>
          </a:solidFill>
          <a:ln/>
        </p:spPr>
      </p:sp>
      <p:sp>
        <p:nvSpPr>
          <p:cNvPr id="35" name="Shape 32"/>
          <p:cNvSpPr/>
          <p:nvPr/>
        </p:nvSpPr>
        <p:spPr>
          <a:xfrm>
            <a:off x="6629400" y="2651760"/>
            <a:ext cx="64008" cy="64008"/>
          </a:xfrm>
          <a:prstGeom prst="ellipse">
            <a:avLst/>
          </a:prstGeom>
          <a:solidFill>
            <a:srgbClr val="8FE3C0"/>
          </a:solidFill>
          <a:ln/>
        </p:spPr>
      </p:sp>
      <p:sp>
        <p:nvSpPr>
          <p:cNvPr id="36" name="Shape 33"/>
          <p:cNvSpPr/>
          <p:nvPr/>
        </p:nvSpPr>
        <p:spPr>
          <a:xfrm>
            <a:off x="7196328" y="2651760"/>
            <a:ext cx="64008" cy="64008"/>
          </a:xfrm>
          <a:prstGeom prst="ellipse">
            <a:avLst/>
          </a:prstGeom>
          <a:solidFill>
            <a:srgbClr val="8FE3C0"/>
          </a:solidFill>
          <a:ln/>
        </p:spPr>
      </p:sp>
      <p:sp>
        <p:nvSpPr>
          <p:cNvPr id="37" name="Shape 34"/>
          <p:cNvSpPr/>
          <p:nvPr/>
        </p:nvSpPr>
        <p:spPr>
          <a:xfrm>
            <a:off x="7763256" y="2651760"/>
            <a:ext cx="64008" cy="64008"/>
          </a:xfrm>
          <a:prstGeom prst="ellipse">
            <a:avLst/>
          </a:prstGeom>
          <a:solidFill>
            <a:srgbClr val="8FE3C0"/>
          </a:solidFill>
          <a:ln/>
        </p:spPr>
      </p:sp>
      <p:sp>
        <p:nvSpPr>
          <p:cNvPr id="38" name="Shape 35"/>
          <p:cNvSpPr/>
          <p:nvPr/>
        </p:nvSpPr>
        <p:spPr>
          <a:xfrm>
            <a:off x="8330184" y="2651760"/>
            <a:ext cx="64008" cy="64008"/>
          </a:xfrm>
          <a:prstGeom prst="ellipse">
            <a:avLst/>
          </a:prstGeom>
          <a:solidFill>
            <a:srgbClr val="8FE3C0"/>
          </a:solidFill>
          <a:ln/>
        </p:spPr>
      </p:sp>
      <p:sp>
        <p:nvSpPr>
          <p:cNvPr id="39" name="Shape 36"/>
          <p:cNvSpPr/>
          <p:nvPr/>
        </p:nvSpPr>
        <p:spPr>
          <a:xfrm>
            <a:off x="8897112" y="2651760"/>
            <a:ext cx="64008" cy="64008"/>
          </a:xfrm>
          <a:prstGeom prst="ellipse">
            <a:avLst/>
          </a:prstGeom>
          <a:solidFill>
            <a:srgbClr val="8FE3C0"/>
          </a:solidFill>
          <a:ln/>
        </p:spPr>
      </p:sp>
      <p:sp>
        <p:nvSpPr>
          <p:cNvPr id="40" name="Shape 37"/>
          <p:cNvSpPr/>
          <p:nvPr/>
        </p:nvSpPr>
        <p:spPr>
          <a:xfrm>
            <a:off x="9464040" y="2651760"/>
            <a:ext cx="64008" cy="64008"/>
          </a:xfrm>
          <a:prstGeom prst="ellipse">
            <a:avLst/>
          </a:prstGeom>
          <a:solidFill>
            <a:srgbClr val="8FE3C0"/>
          </a:solidFill>
          <a:ln/>
        </p:spPr>
      </p:sp>
      <p:sp>
        <p:nvSpPr>
          <p:cNvPr id="41" name="Shape 38"/>
          <p:cNvSpPr/>
          <p:nvPr/>
        </p:nvSpPr>
        <p:spPr>
          <a:xfrm>
            <a:off x="10030968" y="2651760"/>
            <a:ext cx="64008" cy="64008"/>
          </a:xfrm>
          <a:prstGeom prst="ellipse">
            <a:avLst/>
          </a:prstGeom>
          <a:solidFill>
            <a:srgbClr val="8FE3C0"/>
          </a:solidFill>
          <a:ln/>
        </p:spPr>
      </p:sp>
      <p:sp>
        <p:nvSpPr>
          <p:cNvPr id="42" name="Shape 39"/>
          <p:cNvSpPr/>
          <p:nvPr/>
        </p:nvSpPr>
        <p:spPr>
          <a:xfrm>
            <a:off x="10597896" y="2651760"/>
            <a:ext cx="64008" cy="64008"/>
          </a:xfrm>
          <a:prstGeom prst="ellipse">
            <a:avLst/>
          </a:prstGeom>
          <a:solidFill>
            <a:srgbClr val="8FE3C0"/>
          </a:solidFill>
          <a:ln/>
        </p:spPr>
      </p:sp>
      <p:sp>
        <p:nvSpPr>
          <p:cNvPr id="43" name="Shape 40"/>
          <p:cNvSpPr/>
          <p:nvPr/>
        </p:nvSpPr>
        <p:spPr>
          <a:xfrm>
            <a:off x="6629400" y="3108960"/>
            <a:ext cx="64008" cy="64008"/>
          </a:xfrm>
          <a:prstGeom prst="ellipse">
            <a:avLst/>
          </a:prstGeom>
          <a:solidFill>
            <a:srgbClr val="8FE3C0"/>
          </a:solidFill>
          <a:ln/>
        </p:spPr>
      </p:sp>
      <p:sp>
        <p:nvSpPr>
          <p:cNvPr id="44" name="Shape 41"/>
          <p:cNvSpPr/>
          <p:nvPr/>
        </p:nvSpPr>
        <p:spPr>
          <a:xfrm>
            <a:off x="7196328" y="3108960"/>
            <a:ext cx="64008" cy="64008"/>
          </a:xfrm>
          <a:prstGeom prst="ellipse">
            <a:avLst/>
          </a:prstGeom>
          <a:solidFill>
            <a:srgbClr val="8FE3C0"/>
          </a:solidFill>
          <a:ln/>
        </p:spPr>
      </p:sp>
      <p:sp>
        <p:nvSpPr>
          <p:cNvPr id="45" name="Shape 42"/>
          <p:cNvSpPr/>
          <p:nvPr/>
        </p:nvSpPr>
        <p:spPr>
          <a:xfrm>
            <a:off x="7763256" y="3108960"/>
            <a:ext cx="64008" cy="64008"/>
          </a:xfrm>
          <a:prstGeom prst="ellipse">
            <a:avLst/>
          </a:prstGeom>
          <a:solidFill>
            <a:srgbClr val="8FE3C0"/>
          </a:solidFill>
          <a:ln/>
        </p:spPr>
      </p:sp>
      <p:sp>
        <p:nvSpPr>
          <p:cNvPr id="46" name="Shape 43"/>
          <p:cNvSpPr/>
          <p:nvPr/>
        </p:nvSpPr>
        <p:spPr>
          <a:xfrm>
            <a:off x="8330184" y="3108960"/>
            <a:ext cx="64008" cy="64008"/>
          </a:xfrm>
          <a:prstGeom prst="ellipse">
            <a:avLst/>
          </a:prstGeom>
          <a:solidFill>
            <a:srgbClr val="8FE3C0"/>
          </a:solidFill>
          <a:ln/>
        </p:spPr>
      </p:sp>
      <p:sp>
        <p:nvSpPr>
          <p:cNvPr id="47" name="Shape 44"/>
          <p:cNvSpPr/>
          <p:nvPr/>
        </p:nvSpPr>
        <p:spPr>
          <a:xfrm>
            <a:off x="8897112" y="3108960"/>
            <a:ext cx="64008" cy="64008"/>
          </a:xfrm>
          <a:prstGeom prst="ellipse">
            <a:avLst/>
          </a:prstGeom>
          <a:solidFill>
            <a:srgbClr val="8FE3C0"/>
          </a:solidFill>
          <a:ln/>
        </p:spPr>
      </p:sp>
      <p:sp>
        <p:nvSpPr>
          <p:cNvPr id="48" name="Shape 45"/>
          <p:cNvSpPr/>
          <p:nvPr/>
        </p:nvSpPr>
        <p:spPr>
          <a:xfrm>
            <a:off x="9464040" y="3108960"/>
            <a:ext cx="64008" cy="64008"/>
          </a:xfrm>
          <a:prstGeom prst="ellipse">
            <a:avLst/>
          </a:prstGeom>
          <a:solidFill>
            <a:srgbClr val="8FE3C0"/>
          </a:solidFill>
          <a:ln/>
        </p:spPr>
      </p:sp>
      <p:sp>
        <p:nvSpPr>
          <p:cNvPr id="49" name="Shape 46"/>
          <p:cNvSpPr/>
          <p:nvPr/>
        </p:nvSpPr>
        <p:spPr>
          <a:xfrm>
            <a:off x="10030968" y="3108960"/>
            <a:ext cx="64008" cy="64008"/>
          </a:xfrm>
          <a:prstGeom prst="ellipse">
            <a:avLst/>
          </a:prstGeom>
          <a:solidFill>
            <a:srgbClr val="8FE3C0"/>
          </a:solidFill>
          <a:ln/>
        </p:spPr>
      </p:sp>
      <p:sp>
        <p:nvSpPr>
          <p:cNvPr id="50" name="Shape 47"/>
          <p:cNvSpPr/>
          <p:nvPr/>
        </p:nvSpPr>
        <p:spPr>
          <a:xfrm>
            <a:off x="10597896" y="3108960"/>
            <a:ext cx="64008" cy="64008"/>
          </a:xfrm>
          <a:prstGeom prst="ellipse">
            <a:avLst/>
          </a:prstGeom>
          <a:solidFill>
            <a:srgbClr val="8FE3C0"/>
          </a:solidFill>
          <a:ln/>
        </p:spPr>
      </p:sp>
      <p:sp>
        <p:nvSpPr>
          <p:cNvPr id="51" name="Text 48"/>
          <p:cNvSpPr/>
          <p:nvPr/>
        </p:nvSpPr>
        <p:spPr>
          <a:xfrm>
            <a:off x="6492240" y="33832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Shadow-robust candidates hold consistent matches into RANSAC</a:t>
            </a:r>
            <a:endParaRPr lang="en-US" sz="1050" dirty="0"/>
          </a:p>
        </p:txBody>
      </p:sp>
      <p:sp>
        <p:nvSpPr>
          <p:cNvPr id="52" name="Text 49"/>
          <p:cNvSpPr/>
          <p:nvPr/>
        </p:nvSpPr>
        <p:spPr>
          <a:xfrm>
            <a:off x="548640" y="3840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panels feed the same R3F terrain view with contour-line overlays for visual confirmation.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548640" y="4251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98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RESULTS (PLACEHOLDER — POPULATE FROM LOGGED RUNS ONLY)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72000"/>
          <a:ext cx="7863840" cy="1371600"/>
        </p:xfrm>
        <a:graphic>
          <a:graphicData uri="http://schemas.openxmlformats.org/drawingml/2006/table">
            <a:tbl>
              <a:tblPr/>
              <a:tblGrid>
                <a:gridCol w="2621280"/>
                <a:gridCol w="2621280"/>
                <a:gridCol w="262128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89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(SIFT)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89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(SIFT + Learned)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893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(px)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to fill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to fill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Inlier 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to fill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to fill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Inlier ratio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to fill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to fill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5" name="Shape 51"/>
          <p:cNvSpPr/>
          <p:nvPr/>
        </p:nvSpPr>
        <p:spPr>
          <a:xfrm>
            <a:off x="8686800" y="4572000"/>
            <a:ext cx="2926080" cy="1691640"/>
          </a:xfrm>
          <a:prstGeom prst="roundRect">
            <a:avLst>
              <a:gd name="adj" fmla="val 3784"/>
            </a:avLst>
          </a:prstGeom>
          <a:solidFill>
            <a:srgbClr val="F2F5F3"/>
          </a:solidFill>
          <a:ln w="12700">
            <a:solidFill>
              <a:srgbClr val="D5DED8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8869680" y="4709160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numbers from actual logged runs go here — synthetic-DEM numbers are labelled “synthetic” and never mixed with real-scene numbers.</a:t>
            </a:r>
            <a:endParaRPr lang="en-US" sz="1050" dirty="0"/>
          </a:p>
        </p:txBody>
      </p:sp>
      <p:sp>
        <p:nvSpPr>
          <p:cNvPr id="57" name="Shape 53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502920" y="6473952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SIH26166  |  Multi-Instrument Lunar Image Registration Against External Reference Imagery</a:t>
            </a:r>
            <a:endParaRPr lang="en-US" sz="900" dirty="0"/>
          </a:p>
        </p:txBody>
      </p:sp>
      <p:sp>
        <p:nvSpPr>
          <p:cNvPr id="59" name="Text 55"/>
          <p:cNvSpPr/>
          <p:nvPr/>
        </p:nvSpPr>
        <p:spPr>
          <a:xfrm>
            <a:off x="9052560" y="647395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&lt;Your Team Name&gt;</a:t>
            </a:r>
            <a:endParaRPr lang="en-US" sz="900" dirty="0"/>
          </a:p>
        </p:txBody>
      </p:sp>
      <p:sp>
        <p:nvSpPr>
          <p:cNvPr id="60" name="Text 56"/>
          <p:cNvSpPr/>
          <p:nvPr/>
        </p:nvSpPr>
        <p:spPr>
          <a:xfrm>
            <a:off x="11521440" y="6473952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100000">
            <a:off x="10332720" y="-640080"/>
            <a:ext cx="2926080" cy="914400"/>
          </a:xfrm>
          <a:prstGeom prst="rect">
            <a:avLst/>
          </a:prstGeom>
          <a:solidFill>
            <a:srgbClr val="4F6068"/>
          </a:solidFill>
          <a:ln/>
        </p:spPr>
      </p:sp>
      <p:sp>
        <p:nvSpPr>
          <p:cNvPr id="3" name="Shape 1"/>
          <p:cNvSpPr/>
          <p:nvPr/>
        </p:nvSpPr>
        <p:spPr>
          <a:xfrm rot="10800000">
            <a:off x="11292840" y="-45720"/>
            <a:ext cx="1234440" cy="1234440"/>
          </a:xfrm>
          <a:prstGeom prst="triangle">
            <a:avLst/>
          </a:prstGeom>
          <a:solidFill>
            <a:srgbClr val="EB861A"/>
          </a:solidFill>
          <a:ln/>
        </p:spPr>
      </p:sp>
      <p:pic>
        <p:nvPicPr>
          <p:cNvPr id="4" name="Image 0" descr="/home/claude/work/assets/sih_bulb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502920" cy="57687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65176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98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FEASIBILITY, VIABILITY + IMPACT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2651760" y="658368"/>
            <a:ext cx="9052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provably buildable, and who it serves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2651760" y="1444752"/>
            <a:ext cx="3931920" cy="0"/>
          </a:xfrm>
          <a:prstGeom prst="line">
            <a:avLst/>
          </a:prstGeom>
          <a:noFill/>
          <a:ln w="31750">
            <a:solidFill>
              <a:srgbClr val="19893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600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98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1892808"/>
            <a:ext cx="5532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Homography, triangulation, and RANSAC are closed-form and already implementable. Only the descriptor is trained — on a small DEM-derived synthetic dataset (a few MB, minutes on a free-tier GPU).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2743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98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 →  MITIGATION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2971800"/>
            <a:ext cx="5532120" cy="621792"/>
          </a:xfrm>
          <a:prstGeom prst="roundRect">
            <a:avLst>
              <a:gd name="adj" fmla="val 8824"/>
            </a:avLst>
          </a:prstGeom>
          <a:solidFill>
            <a:srgbClr val="F2F5F3"/>
          </a:solidFill>
          <a:ln w="9525">
            <a:solidFill>
              <a:srgbClr val="D5DE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3232" y="2990088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PRADAN registration approval lag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Register on PRADAN day one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8640" y="3666744"/>
            <a:ext cx="5532120" cy="621792"/>
          </a:xfrm>
          <a:prstGeom prst="roundRect">
            <a:avLst>
              <a:gd name="adj" fmla="val 8824"/>
            </a:avLst>
          </a:prstGeom>
          <a:solidFill>
            <a:srgbClr val="F2F5F3"/>
          </a:solidFill>
          <a:ln w="9525">
            <a:solidFill>
              <a:srgbClr val="D5DE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3232" y="3685032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OHRC's narrow ~12×3 km footprint may barely overlap reference imagery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Confirm coverage on LROC QuickMap for 2–3 candidate scenes before committing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48640" y="4361688"/>
            <a:ext cx="5532120" cy="621792"/>
          </a:xfrm>
          <a:prstGeom prst="roundRect">
            <a:avLst>
              <a:gd name="adj" fmla="val 8824"/>
            </a:avLst>
          </a:prstGeom>
          <a:solidFill>
            <a:srgbClr val="F2F5F3"/>
          </a:solidFill>
          <a:ln w="9525">
            <a:solidFill>
              <a:srgbClr val="D5DED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3232" y="4379976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Shadow-consistency check shares a DEM dependency with the geometry it validates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Validate geometry independently via TMC-2's own stereo triplet, not the same DEM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400800" y="1600200"/>
            <a:ext cx="5257800" cy="2788920"/>
          </a:xfrm>
          <a:prstGeom prst="roundRect">
            <a:avLst>
              <a:gd name="adj" fmla="val 2623"/>
            </a:avLst>
          </a:prstGeom>
          <a:solidFill>
            <a:srgbClr val="19893F"/>
          </a:solidFill>
          <a:ln/>
        </p:spPr>
      </p:sp>
      <p:sp>
        <p:nvSpPr>
          <p:cNvPr id="18" name="Text 15"/>
          <p:cNvSpPr/>
          <p:nvPr/>
        </p:nvSpPr>
        <p:spPr>
          <a:xfrm>
            <a:off x="6629400" y="17830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B8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REUSABILITY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629400" y="210312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registration pipeline across all three Chandrayaan-2 instruments — supporting mosaicking, DEM generation, and landing-site selection workflows. Not a single-scene demo.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629400" y="306324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a specific, named gap: ISRO's own OPTIMUS landing-site pipeline is undocumented. Every reported metric is measured and reproducible from logged runs — never asserted.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48640" y="5010912"/>
            <a:ext cx="11109960" cy="868680"/>
          </a:xfrm>
          <a:prstGeom prst="roundRect">
            <a:avLst>
              <a:gd name="adj" fmla="val 7368"/>
            </a:avLst>
          </a:prstGeom>
          <a:solidFill>
            <a:srgbClr val="F2F5F3"/>
          </a:solidFill>
          <a:ln w="12700">
            <a:solidFill>
              <a:srgbClr val="D5DED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7240" y="5120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 POINT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77240" y="5394960"/>
            <a:ext cx="10652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name what we deliberately leave out — general multi-modal registration is out of scope. Honest scope is a strength, not a weakness.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2920" y="6473952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SIH26166  |  Multi-Instrument Lunar Image Registration Against External Reference Imagery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9052560" y="647395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&lt;Your Team Name&gt;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521440" y="6473952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100000">
            <a:off x="10332720" y="-640080"/>
            <a:ext cx="2926080" cy="914400"/>
          </a:xfrm>
          <a:prstGeom prst="rect">
            <a:avLst/>
          </a:prstGeom>
          <a:solidFill>
            <a:srgbClr val="4F6068"/>
          </a:solidFill>
          <a:ln/>
        </p:spPr>
      </p:sp>
      <p:sp>
        <p:nvSpPr>
          <p:cNvPr id="3" name="Shape 1"/>
          <p:cNvSpPr/>
          <p:nvPr/>
        </p:nvSpPr>
        <p:spPr>
          <a:xfrm rot="10800000">
            <a:off x="11292840" y="-45720"/>
            <a:ext cx="1234440" cy="1234440"/>
          </a:xfrm>
          <a:prstGeom prst="triangle">
            <a:avLst/>
          </a:prstGeom>
          <a:solidFill>
            <a:srgbClr val="EB861A"/>
          </a:solidFill>
          <a:ln/>
        </p:spPr>
      </p:sp>
      <p:pic>
        <p:nvPicPr>
          <p:cNvPr id="4" name="Image 0" descr="/home/claude/work/assets/sih_bulb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502920" cy="57687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65176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98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+ REFERENCES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2651760" y="658368"/>
            <a:ext cx="9052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Sources, data, and the claim we stand behind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2651760" y="1444752"/>
            <a:ext cx="3840480" cy="0"/>
          </a:xfrm>
          <a:prstGeom prst="line">
            <a:avLst/>
          </a:prstGeom>
          <a:noFill/>
          <a:ln w="31750">
            <a:solidFill>
              <a:srgbClr val="19893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600200"/>
            <a:ext cx="1874520" cy="566928"/>
          </a:xfrm>
          <a:prstGeom prst="roundRect">
            <a:avLst>
              <a:gd name="adj" fmla="val 8065"/>
            </a:avLst>
          </a:prstGeom>
          <a:solidFill>
            <a:srgbClr val="19893F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600200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B8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606040" y="1600200"/>
            <a:ext cx="8961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Makharia et al., “Benchmarking Classical vs. Deep-Learning Feature Matching on Chandrayaan-2 Imagery,” ISRO SAC, 2025 (verify exact title / DOI before submission)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2258568"/>
            <a:ext cx="1874520" cy="566928"/>
          </a:xfrm>
          <a:prstGeom prst="roundRect">
            <a:avLst>
              <a:gd name="adj" fmla="val 8065"/>
            </a:avLst>
          </a:prstGeom>
          <a:solidFill>
            <a:srgbClr val="19893F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2258568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B8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606040" y="2258568"/>
            <a:ext cx="8961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Chandrayaan Map Browse (chmapbrowse.issdc.gov.in) · ISSDC PRADAN (pradan.issdc.gov.in) · LROC NAC + QuickMap (lroc.im-ldi.com) · JAXA SELENE archive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2916936"/>
            <a:ext cx="1874520" cy="566928"/>
          </a:xfrm>
          <a:prstGeom prst="roundRect">
            <a:avLst>
              <a:gd name="adj" fmla="val 8065"/>
            </a:avLst>
          </a:prstGeom>
          <a:solidFill>
            <a:srgbClr val="19893F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2916936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B8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606040" y="2916936"/>
            <a:ext cx="8961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LOLA gridded data products / SLDEM2015 (LOLA + Kaguya Terrain Camera), NASA PDS Geosciences Node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3575304"/>
            <a:ext cx="1874520" cy="566928"/>
          </a:xfrm>
          <a:prstGeom prst="roundRect">
            <a:avLst>
              <a:gd name="adj" fmla="val 8065"/>
            </a:avLst>
          </a:prstGeom>
          <a:solidFill>
            <a:srgbClr val="19893F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3575304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B8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Crater catalog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606040" y="3575304"/>
            <a:ext cx="8961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LPI/USGS Lunar Crater Database or Robbins (2019) global lunar crater catalog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4398264"/>
            <a:ext cx="10927080" cy="1417320"/>
          </a:xfrm>
          <a:prstGeom prst="roundRect">
            <a:avLst>
              <a:gd name="adj" fmla="val 5161"/>
            </a:avLst>
          </a:prstGeom>
          <a:solidFill>
            <a:srgbClr val="F2F5F3"/>
          </a:solidFill>
          <a:ln w="12700">
            <a:solidFill>
              <a:srgbClr val="D5DED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7240" y="45537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CLAIM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77240" y="4855464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working, generic, evaluable registration pipeline across Chandrayaan-2 OHRC / TMC-2 / IIRS against external reference imagery — with one measured, named improvement: shadow-robust matching under lunar illumination extremes.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548640" y="5998464"/>
            <a:ext cx="10927080" cy="0"/>
          </a:xfrm>
          <a:prstGeom prst="line">
            <a:avLst/>
          </a:prstGeom>
          <a:noFill/>
          <a:ln w="12700">
            <a:solidFill>
              <a:srgbClr val="D5DED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6108192"/>
            <a:ext cx="10927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&lt;Your Team Name&gt;  (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&lt;Your Team ID&gt;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     </a:t>
            </a:r>
            <a:pPr indent="0" marL="0">
              <a:buNone/>
            </a:pPr>
            <a:r>
              <a:rPr lang="en-US" sz="115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/ Contact: 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&lt;repo-url&gt;  ·  &lt;contact-email&gt;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6473952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SIH26166  |  Multi-Instrument Lunar Image Registration Against External Reference Imagery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9052560" y="647395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&lt;Your Team Name&gt;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521440" y="6473952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2026-08-31T11:22:35Z</dcterms:created>
  <dcterms:modified xsi:type="dcterms:W3CDTF">2026-08-31T11:22:35Z</dcterms:modified>
</cp:coreProperties>
</file>