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-914400" y="-914400"/>
            <a:ext cx="4206240" cy="182880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3931920"/>
            <a:ext cx="3017520" cy="3017520"/>
          </a:xfrm>
          <a:prstGeom prst="triangle">
            <a:avLst/>
          </a:prstGeom>
          <a:solidFill>
            <a:srgbClr val="E8B83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212080"/>
            <a:ext cx="2286000" cy="2286000"/>
          </a:xfrm>
          <a:prstGeom prst="triangle">
            <a:avLst/>
          </a:prstGeom>
          <a:solidFill>
            <a:srgbClr val="6F8E46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457200"/>
            <a:ext cx="594360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8B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115" y="885139"/>
            <a:ext cx="213970" cy="130759"/>
          </a:xfrm>
          <a:prstGeom prst="rect">
            <a:avLst/>
          </a:prstGeom>
          <a:solidFill>
            <a:srgbClr val="6F8E46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" y="546354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546354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67711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67711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" y="807872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807872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" y="347472"/>
            <a:ext cx="0" cy="91440"/>
          </a:xfrm>
          <a:prstGeom prst="line">
            <a:avLst/>
          </a:prstGeom>
          <a:noFill/>
          <a:ln w="19050">
            <a:solidFill>
              <a:srgbClr val="6F8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57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502920"/>
            <a:ext cx="7680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Multi-Instrument Lunar Image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Against External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Imagery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142232" y="2240280"/>
            <a:ext cx="3383280" cy="0"/>
          </a:xfrm>
          <a:prstGeom prst="line">
            <a:avLst/>
          </a:prstGeom>
          <a:noFill/>
          <a:ln w="31750">
            <a:solidFill>
              <a:srgbClr val="3C8C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6060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14800" y="30632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Multi-Instrument Lunar Image Registration Against External Reference Imagery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14800" y="35204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14800" y="39776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14800" y="44348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ID&gt;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114800" y="48920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portal): 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11480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Technology  ·  Software  ·  Smart India Hackathon 2025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8B83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502920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8B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3854" y="819302"/>
            <a:ext cx="181051" cy="110642"/>
          </a:xfrm>
          <a:prstGeom prst="rect">
            <a:avLst/>
          </a:prstGeom>
          <a:solidFill>
            <a:srgbClr val="6F8E46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" y="347472"/>
            <a:ext cx="0" cy="91440"/>
          </a:xfrm>
          <a:prstGeom prst="line">
            <a:avLst/>
          </a:prstGeom>
          <a:noFill/>
          <a:ln w="19050">
            <a:solidFill>
              <a:srgbClr val="6F8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Shadow-Invariant Learned Descriptor + Classical SIFT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2651760" y="1444752"/>
            <a:ext cx="4297680" cy="0"/>
          </a:xfrm>
          <a:prstGeom prst="line">
            <a:avLst/>
          </a:prstGeom>
          <a:noFill/>
          <a:ln w="31750">
            <a:solidFill>
              <a:srgbClr val="3C8C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600200"/>
            <a:ext cx="11109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a generic, evaluable registration pipeline for Chandrayaan-2 OHRC/TMC-2/IIRS imagery, matched against LROC NAC/SELENE reference imagery, combining classical SIFT with a novel shadow-invariant learned patch descriptor.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1579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F2F6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Patch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95728" y="2450592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79776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2E8B9E"/>
          </a:solidFill>
          <a:ln w="12700">
            <a:solidFill>
              <a:srgbClr val="2E8B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9776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26864" y="2450592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10912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F2F6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2450592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242048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F2F6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89136" y="2450592"/>
            <a:ext cx="38404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73184" y="2450592"/>
            <a:ext cx="1847088" cy="1234440"/>
          </a:xfrm>
          <a:prstGeom prst="roundRect">
            <a:avLst>
              <a:gd name="adj" fmla="val 5926"/>
            </a:avLst>
          </a:prstGeom>
          <a:solidFill>
            <a:srgbClr val="F2F6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73184" y="2450592"/>
            <a:ext cx="18470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F2F6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215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8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CONCEPT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4526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matching (SIFT/ASIFT) is documented (ISRO SAC, 2025) to fail under lunar shadow and intensity shift. Triplet-trained Siamese descriptor using physically-rendered (Lommel-Seeliger) synthetic sun-angle pairs from real DEM data — closed-form geometry everywhere except this one learned component.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63640" y="40690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2E8B9E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2153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WHAT WE TARGET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4526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descriptor adds shadow-robust candidates alongside SIFT, feeding the same RANSAC verification — not replacing it. We do not claim to solve multi-modal registration in general; we target one named failure mode and validate the fix precisely there.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8B83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502920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8B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3854" y="819302"/>
            <a:ext cx="181051" cy="110642"/>
          </a:xfrm>
          <a:prstGeom prst="rect">
            <a:avLst/>
          </a:prstGeom>
          <a:solidFill>
            <a:srgbClr val="6F8E46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" y="347472"/>
            <a:ext cx="0" cy="91440"/>
          </a:xfrm>
          <a:prstGeom prst="line">
            <a:avLst/>
          </a:prstGeom>
          <a:noFill/>
          <a:ln w="19050">
            <a:solidFill>
              <a:srgbClr val="6F8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Closed-form geometry, one learned component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2651760" y="1444752"/>
            <a:ext cx="3840480" cy="0"/>
          </a:xfrm>
          <a:prstGeom prst="line">
            <a:avLst/>
          </a:prstGeom>
          <a:noFill/>
          <a:ln w="31750">
            <a:solidFill>
              <a:srgbClr val="3C8C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261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2E8B9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54065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2E8B9E"/>
          </a:solidFill>
          <a:ln/>
        </p:spPr>
      </p:sp>
      <p:sp>
        <p:nvSpPr>
          <p:cNvPr id="20" name="Text 18"/>
          <p:cNvSpPr/>
          <p:nvPr/>
        </p:nvSpPr>
        <p:spPr>
          <a:xfrm>
            <a:off x="2154065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59490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2E8B9E"/>
          </a:solidFill>
          <a:ln/>
        </p:spPr>
      </p:sp>
      <p:sp>
        <p:nvSpPr>
          <p:cNvPr id="22" name="Text 20"/>
          <p:cNvSpPr/>
          <p:nvPr/>
        </p:nvSpPr>
        <p:spPr>
          <a:xfrm>
            <a:off x="3759490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Photometric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64915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E8B830"/>
          </a:solidFill>
          <a:ln/>
        </p:spPr>
      </p:sp>
      <p:sp>
        <p:nvSpPr>
          <p:cNvPr id="24" name="Text 22"/>
          <p:cNvSpPr/>
          <p:nvPr/>
        </p:nvSpPr>
        <p:spPr>
          <a:xfrm>
            <a:off x="5364915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Desc.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70341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2E8B9E"/>
          </a:solidFill>
          <a:ln/>
        </p:spPr>
      </p:sp>
      <p:sp>
        <p:nvSpPr>
          <p:cNvPr id="26" name="Text 24"/>
          <p:cNvSpPr/>
          <p:nvPr/>
        </p:nvSpPr>
        <p:spPr>
          <a:xfrm>
            <a:off x="6970341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75766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2E8B9E"/>
          </a:solidFill>
          <a:ln/>
        </p:spPr>
      </p:sp>
      <p:sp>
        <p:nvSpPr>
          <p:cNvPr id="28" name="Text 26"/>
          <p:cNvSpPr/>
          <p:nvPr/>
        </p:nvSpPr>
        <p:spPr>
          <a:xfrm>
            <a:off x="8575766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181191" y="1554480"/>
            <a:ext cx="1477409" cy="960120"/>
          </a:xfrm>
          <a:prstGeom prst="roundRect">
            <a:avLst>
              <a:gd name="adj" fmla="val 6667"/>
            </a:avLst>
          </a:prstGeom>
          <a:solidFill>
            <a:srgbClr val="2E8B9E"/>
          </a:solidFill>
          <a:ln/>
        </p:spPr>
      </p:sp>
      <p:sp>
        <p:nvSpPr>
          <p:cNvPr id="30" name="Text 28"/>
          <p:cNvSpPr/>
          <p:nvPr/>
        </p:nvSpPr>
        <p:spPr>
          <a:xfrm>
            <a:off x="10181191" y="1554480"/>
            <a:ext cx="1477409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1546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React Three Fiber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348386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Backend: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ONNX Runtime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381304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414223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Auth: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(DB / Auth / Storage)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069080" y="315468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Limits: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069080" y="348386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069080" y="381304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Narration:  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(result narration)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086600" y="2834640"/>
            <a:ext cx="4526280" cy="3200400"/>
          </a:xfrm>
          <a:prstGeom prst="roundRect">
            <a:avLst>
              <a:gd name="adj" fmla="val 2286"/>
            </a:avLst>
          </a:prstGeom>
          <a:solidFill>
            <a:srgbClr val="2E8B9E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EQUATION THAT MATTERS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3337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Triplet Loss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78040" y="3703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max(d(a,p) − d(a,n) + α, 0)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0" y="42062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anchor patch, p = same-surface positive under a different sun angle, n = non-matching negative, α = margin.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48920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buys us: it pulls the embeddings of the same terrain patch together across sun angles, and pushes different terrain apart — so shadow no longer masquerades as a different feature.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8B83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502920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8B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3854" y="819302"/>
            <a:ext cx="181051" cy="110642"/>
          </a:xfrm>
          <a:prstGeom prst="rect">
            <a:avLst/>
          </a:prstGeom>
          <a:solidFill>
            <a:srgbClr val="6F8E46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" y="347472"/>
            <a:ext cx="0" cy="91440"/>
          </a:xfrm>
          <a:prstGeom prst="line">
            <a:avLst/>
          </a:prstGeom>
          <a:noFill/>
          <a:ln w="19050">
            <a:solidFill>
              <a:srgbClr val="6F8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MEASURED RESULTS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vs. proposed, on the same scene pair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2651760" y="1444752"/>
            <a:ext cx="4023360" cy="0"/>
          </a:xfrm>
          <a:prstGeom prst="line">
            <a:avLst/>
          </a:prstGeom>
          <a:noFill/>
          <a:ln w="31750">
            <a:solidFill>
              <a:srgbClr val="3C8C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F2F6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17282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 (SIFT)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84046" y="2491500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615101" y="2800818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0415" y="2116457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262296" y="3324393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80995" y="2689674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Shape 21"/>
          <p:cNvSpPr/>
          <p:nvPr/>
        </p:nvSpPr>
        <p:spPr>
          <a:xfrm>
            <a:off x="4394099" y="2648668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0732" y="2503399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274379" y="2902984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819352" y="3267767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Shape 25"/>
          <p:cNvSpPr/>
          <p:nvPr/>
        </p:nvSpPr>
        <p:spPr>
          <a:xfrm>
            <a:off x="4500946" y="3192423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Shape 26"/>
          <p:cNvSpPr/>
          <p:nvPr/>
        </p:nvSpPr>
        <p:spPr>
          <a:xfrm>
            <a:off x="4431734" y="3360539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9" name="Shape 27"/>
          <p:cNvSpPr/>
          <p:nvPr/>
        </p:nvSpPr>
        <p:spPr>
          <a:xfrm>
            <a:off x="4229188" y="2388095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Shape 28"/>
          <p:cNvSpPr/>
          <p:nvPr/>
        </p:nvSpPr>
        <p:spPr>
          <a:xfrm>
            <a:off x="4554417" y="3010992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Shape 29"/>
          <p:cNvSpPr/>
          <p:nvPr/>
        </p:nvSpPr>
        <p:spPr>
          <a:xfrm>
            <a:off x="4561623" y="3033482"/>
            <a:ext cx="54864" cy="5486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3832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scatter and drop out under shadow / intensity shift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2E8B9E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17282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(SIFT + LEARNED DESCRIPTOR)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29400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6" name="Shape 34"/>
          <p:cNvSpPr/>
          <p:nvPr/>
        </p:nvSpPr>
        <p:spPr>
          <a:xfrm>
            <a:off x="7196328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7" name="Shape 35"/>
          <p:cNvSpPr/>
          <p:nvPr/>
        </p:nvSpPr>
        <p:spPr>
          <a:xfrm>
            <a:off x="7763256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8" name="Shape 36"/>
          <p:cNvSpPr/>
          <p:nvPr/>
        </p:nvSpPr>
        <p:spPr>
          <a:xfrm>
            <a:off x="8330184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39" name="Shape 37"/>
          <p:cNvSpPr/>
          <p:nvPr/>
        </p:nvSpPr>
        <p:spPr>
          <a:xfrm>
            <a:off x="8897112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0" name="Shape 38"/>
          <p:cNvSpPr/>
          <p:nvPr/>
        </p:nvSpPr>
        <p:spPr>
          <a:xfrm>
            <a:off x="9464040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30968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97896" y="21945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3" name="Shape 41"/>
          <p:cNvSpPr/>
          <p:nvPr/>
        </p:nvSpPr>
        <p:spPr>
          <a:xfrm>
            <a:off x="6629400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4" name="Shape 42"/>
          <p:cNvSpPr/>
          <p:nvPr/>
        </p:nvSpPr>
        <p:spPr>
          <a:xfrm>
            <a:off x="7196328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5" name="Shape 43"/>
          <p:cNvSpPr/>
          <p:nvPr/>
        </p:nvSpPr>
        <p:spPr>
          <a:xfrm>
            <a:off x="7763256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6" name="Shape 44"/>
          <p:cNvSpPr/>
          <p:nvPr/>
        </p:nvSpPr>
        <p:spPr>
          <a:xfrm>
            <a:off x="8330184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7" name="Shape 45"/>
          <p:cNvSpPr/>
          <p:nvPr/>
        </p:nvSpPr>
        <p:spPr>
          <a:xfrm>
            <a:off x="8897112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8" name="Shape 46"/>
          <p:cNvSpPr/>
          <p:nvPr/>
        </p:nvSpPr>
        <p:spPr>
          <a:xfrm>
            <a:off x="9464040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030968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0" name="Shape 48"/>
          <p:cNvSpPr/>
          <p:nvPr/>
        </p:nvSpPr>
        <p:spPr>
          <a:xfrm>
            <a:off x="10597896" y="26517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1" name="Shape 49"/>
          <p:cNvSpPr/>
          <p:nvPr/>
        </p:nvSpPr>
        <p:spPr>
          <a:xfrm>
            <a:off x="6629400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2" name="Shape 50"/>
          <p:cNvSpPr/>
          <p:nvPr/>
        </p:nvSpPr>
        <p:spPr>
          <a:xfrm>
            <a:off x="7196328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3" name="Shape 51"/>
          <p:cNvSpPr/>
          <p:nvPr/>
        </p:nvSpPr>
        <p:spPr>
          <a:xfrm>
            <a:off x="7763256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4" name="Shape 52"/>
          <p:cNvSpPr/>
          <p:nvPr/>
        </p:nvSpPr>
        <p:spPr>
          <a:xfrm>
            <a:off x="8330184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5" name="Shape 53"/>
          <p:cNvSpPr/>
          <p:nvPr/>
        </p:nvSpPr>
        <p:spPr>
          <a:xfrm>
            <a:off x="8897112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6" name="Shape 54"/>
          <p:cNvSpPr/>
          <p:nvPr/>
        </p:nvSpPr>
        <p:spPr>
          <a:xfrm>
            <a:off x="9464040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7" name="Shape 55"/>
          <p:cNvSpPr/>
          <p:nvPr/>
        </p:nvSpPr>
        <p:spPr>
          <a:xfrm>
            <a:off x="10030968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8" name="Shape 56"/>
          <p:cNvSpPr/>
          <p:nvPr/>
        </p:nvSpPr>
        <p:spPr>
          <a:xfrm>
            <a:off x="10597896" y="3108960"/>
            <a:ext cx="64008" cy="64008"/>
          </a:xfrm>
          <a:prstGeom prst="ellipse">
            <a:avLst/>
          </a:prstGeom>
          <a:solidFill>
            <a:srgbClr val="8FE3C0"/>
          </a:solidFill>
          <a:ln/>
        </p:spPr>
      </p:sp>
      <p:sp>
        <p:nvSpPr>
          <p:cNvPr id="59" name="Text 57"/>
          <p:cNvSpPr/>
          <p:nvPr/>
        </p:nvSpPr>
        <p:spPr>
          <a:xfrm>
            <a:off x="649224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Shadow-robust candidates hold consistent matches into RANSAC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panels feed the same R3F terrain view with contour-line overlays for visual confirmation.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 (PLACEHOLDER — POPULATE FROM LOGGED RUNS ONLY)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7863840" cy="13716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(SIFT)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(SIFT + Learned)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9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(px)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Inlier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Inlier 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to fill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3" name="Shape 60"/>
          <p:cNvSpPr/>
          <p:nvPr/>
        </p:nvSpPr>
        <p:spPr>
          <a:xfrm>
            <a:off x="8686800" y="4572000"/>
            <a:ext cx="2926080" cy="1691640"/>
          </a:xfrm>
          <a:prstGeom prst="roundRect">
            <a:avLst>
              <a:gd name="adj" fmla="val 3784"/>
            </a:avLst>
          </a:prstGeom>
          <a:solidFill>
            <a:srgbClr val="F2F6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869680" y="470916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numbers from actual logged runs go here — synthetic-DEM numbers are labelled “synthetic” and never mixed with real-scene numbers.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8B83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502920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8B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3854" y="819302"/>
            <a:ext cx="181051" cy="110642"/>
          </a:xfrm>
          <a:prstGeom prst="rect">
            <a:avLst/>
          </a:prstGeom>
          <a:solidFill>
            <a:srgbClr val="6F8E46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" y="347472"/>
            <a:ext cx="0" cy="91440"/>
          </a:xfrm>
          <a:prstGeom prst="line">
            <a:avLst/>
          </a:prstGeom>
          <a:noFill/>
          <a:ln w="19050">
            <a:solidFill>
              <a:srgbClr val="6F8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VIABILITY + IMPACT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provably buildable, and who it serves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2651760" y="1444752"/>
            <a:ext cx="3931920" cy="0"/>
          </a:xfrm>
          <a:prstGeom prst="line">
            <a:avLst/>
          </a:prstGeom>
          <a:noFill/>
          <a:ln w="31750">
            <a:solidFill>
              <a:srgbClr val="3C8C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1892808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Homography, triangulation, and RANSAC are closed-form and already implementable. Only the descriptor is trained — on a small DEM-derived synthetic dataset (a few MB, minutes on a free-tier GPU).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→  MITIGATION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5532120" cy="621792"/>
          </a:xfrm>
          <a:prstGeom prst="roundRect">
            <a:avLst>
              <a:gd name="adj" fmla="val 8824"/>
            </a:avLst>
          </a:prstGeom>
          <a:solidFill>
            <a:srgbClr val="F2F6F3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299008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PRADAN registration approval lag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Register on PRADAN day 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666744"/>
            <a:ext cx="5532120" cy="621792"/>
          </a:xfrm>
          <a:prstGeom prst="roundRect">
            <a:avLst>
              <a:gd name="adj" fmla="val 8824"/>
            </a:avLst>
          </a:prstGeom>
          <a:solidFill>
            <a:srgbClr val="F2F6F3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368503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OHRC's narrow ~12×3 km footprint may barely overlap reference imagery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Confirm coverage on LROC QuickMap for 2–3 candidate scenes before committing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361688"/>
            <a:ext cx="5532120" cy="621792"/>
          </a:xfrm>
          <a:prstGeom prst="roundRect">
            <a:avLst>
              <a:gd name="adj" fmla="val 8824"/>
            </a:avLst>
          </a:prstGeom>
          <a:solidFill>
            <a:srgbClr val="F2F6F3"/>
          </a:solidFill>
          <a:ln w="9525">
            <a:solidFill>
              <a:srgbClr val="D5D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379976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Shadow-consistency check shares a DEM dependency with the geometry it validates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Validate geometry independently via TMC-2's own stereo triplet, not the same DEM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600200"/>
            <a:ext cx="5257800" cy="2788920"/>
          </a:xfrm>
          <a:prstGeom prst="roundRect">
            <a:avLst>
              <a:gd name="adj" fmla="val 2623"/>
            </a:avLst>
          </a:prstGeom>
          <a:solidFill>
            <a:srgbClr val="2E8B9E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REUSABILITY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21031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registration pipeline across all three Chandrayaan-2 instruments — supporting mosaicking, DEM generation, and landing-site selection workflows. Not a single-scene demo.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29400" y="30632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specific, named gap: ISRO's own OPTIMUS landing-site pipeline is undocumented. Every reported metric is measured and reproducible from logged runs — never asserted.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010912"/>
            <a:ext cx="11109960" cy="868680"/>
          </a:xfrm>
          <a:prstGeom prst="roundRect">
            <a:avLst>
              <a:gd name="adj" fmla="val 7368"/>
            </a:avLst>
          </a:prstGeom>
          <a:solidFill>
            <a:srgbClr val="F2F6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20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F8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POINT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5394960"/>
            <a:ext cx="10652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name what we deliberately leave out — general multi-modal registration is out of scope. Honest scope is a strength, not a weakness.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10332720" y="-640080"/>
            <a:ext cx="2926080" cy="914400"/>
          </a:xfrm>
          <a:prstGeom prst="rect">
            <a:avLst/>
          </a:prstGeom>
          <a:solidFill>
            <a:srgbClr val="2E8B9E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1292840" y="-45720"/>
            <a:ext cx="1234440" cy="1234440"/>
          </a:xfrm>
          <a:prstGeom prst="triangle">
            <a:avLst/>
          </a:prstGeom>
          <a:solidFill>
            <a:srgbClr val="E8B830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502920" cy="402336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8B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3854" y="819302"/>
            <a:ext cx="181051" cy="110642"/>
          </a:xfrm>
          <a:prstGeom prst="rect">
            <a:avLst/>
          </a:prstGeom>
          <a:solidFill>
            <a:srgbClr val="6F8E46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532638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643280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753923"/>
            <a:ext cx="91440" cy="0"/>
          </a:xfrm>
          <a:prstGeom prst="line">
            <a:avLst/>
          </a:prstGeom>
          <a:noFill/>
          <a:ln w="19050">
            <a:solidFill>
              <a:srgbClr val="2E8B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" y="347472"/>
            <a:ext cx="0" cy="91440"/>
          </a:xfrm>
          <a:prstGeom prst="line">
            <a:avLst/>
          </a:prstGeom>
          <a:noFill/>
          <a:ln w="19050">
            <a:solidFill>
              <a:srgbClr val="6F8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+ REFERENCES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65836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Sources, data, and the claim we stand behind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2651760" y="1444752"/>
            <a:ext cx="3840480" cy="0"/>
          </a:xfrm>
          <a:prstGeom prst="line">
            <a:avLst/>
          </a:prstGeom>
          <a:noFill/>
          <a:ln w="31750">
            <a:solidFill>
              <a:srgbClr val="3C8C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00200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2E8B9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60020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1600200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Makharia et al., “Benchmarking Classical vs. Deep-Learning Feature Matching on Chandrayaan-2 Imagery,” ISRO SAC, 2025 (verify exact title / DOI before submission)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258568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2E8B9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25856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2258568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Chandrayaan Map Browse (chmapbrowse.issdc.gov.in) · ISSDC PRADAN (pradan.issdc.gov.in) · LROC NAC + QuickMap (lroc.im-ldi.com) · JAXA SELENE archive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916936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2E8B9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16936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2916936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LOLA gridded data products / SLDEM2015 (LOLA + Kaguya Terrain Camera), NASA PDS Geosciences Node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575304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2E8B9E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575304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Crater catalog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3575304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LPI/USGS Lunar Crater Database or Robbins (2019) global lunar crater catalog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398264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F2F6F3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53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8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855464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generic, evaluable registration pipeline across Chandrayaan-2 OHRC / TMC-2 / IIRS against external reference imagery — with one measured, named improvement: shadow-robust matching under lunar illumination extremes.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998464"/>
            <a:ext cx="10927080" cy="0"/>
          </a:xfrm>
          <a:prstGeom prst="line">
            <a:avLst/>
          </a:prstGeom>
          <a:noFill/>
          <a:ln w="12700">
            <a:solidFill>
              <a:srgbClr val="D5D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108192"/>
            <a:ext cx="10927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  (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ID&gt;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    </a:t>
            </a:r>
            <a:pPr indent="0" marL="0">
              <a:buNone/>
            </a:pPr>
            <a:r>
              <a:rPr lang="en-US" sz="11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/ Contact: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&lt;repo-url&gt;  ·  &lt;contact-email&gt;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7395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SIH26166  |  Multi-Instrument Lunar Image Registration Against External Reference Imagery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52560" y="64739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Team Name&gt;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2026-08-31T11:11:54Z</dcterms:created>
  <dcterms:modified xsi:type="dcterms:W3CDTF">2026-08-31T11:11:54Z</dcterms:modified>
</cp:coreProperties>
</file>